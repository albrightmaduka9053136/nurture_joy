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67" r:id="rId3"/>
    <p:sldId id="266" r:id="rId4"/>
    <p:sldId id="271" r:id="rId5"/>
    <p:sldId id="259" r:id="rId6"/>
    <p:sldId id="263" r:id="rId7"/>
    <p:sldId id="268" r:id="rId8"/>
    <p:sldId id="260" r:id="rId9"/>
    <p:sldId id="272" r:id="rId10"/>
    <p:sldId id="274" r:id="rId11"/>
    <p:sldId id="270" r:id="rId12"/>
    <p:sldId id="269" r:id="rId13"/>
    <p:sldId id="261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93D"/>
    <a:srgbClr val="E32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668" y="1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68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7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3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1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20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2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63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7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3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1415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40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4308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40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05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67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6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tepress.org/Papers/2025/138817/138817.pdf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ture.com/articles/s41598-025-00450-3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3874858/?utm_source=chatgpt.co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5670183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411" y="1318590"/>
            <a:ext cx="382661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Nurture Joy</a:t>
            </a:r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F2496725-69C1-EEAC-2BBE-BDAECE6D45E2}"/>
              </a:ext>
            </a:extLst>
          </p:cNvPr>
          <p:cNvSpPr txBox="1">
            <a:spLocks/>
          </p:cNvSpPr>
          <p:nvPr/>
        </p:nvSpPr>
        <p:spPr>
          <a:xfrm>
            <a:off x="5563565" y="3741900"/>
            <a:ext cx="2423657" cy="3305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/>
              <a:t>Group Members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9E392D50-A097-10EB-36FD-257AE2BF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244" y="4176296"/>
            <a:ext cx="3476805" cy="13147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Kamamo Lesley – 8984971</a:t>
            </a:r>
          </a:p>
          <a:p>
            <a:pPr marL="0" indent="0">
              <a:buNone/>
            </a:pPr>
            <a:r>
              <a:rPr lang="en-US" b="1" dirty="0"/>
              <a:t>Abdullahi Mohamed - 9082466</a:t>
            </a:r>
          </a:p>
          <a:p>
            <a:pPr marL="0" indent="0">
              <a:buNone/>
            </a:pPr>
            <a:r>
              <a:rPr lang="en-US" b="1" dirty="0"/>
              <a:t>Albright Maduka - 9053136</a:t>
            </a:r>
          </a:p>
          <a:p>
            <a:pPr marL="0" indent="0">
              <a:buNone/>
            </a:pPr>
            <a:r>
              <a:rPr lang="en-US" b="1" dirty="0"/>
              <a:t>Andrew Silveria - 5077086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32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1046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1" name="Freeform 6">
            <a:extLst>
              <a:ext uri="{FF2B5EF4-FFF2-40B4-BE49-F238E27FC236}">
                <a16:creationId xmlns:a16="http://schemas.microsoft.com/office/drawing/2014/main" id="{76CB6AE4-A444-41E5-A744-47F048A1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063" name="Rectangle 1062">
            <a:extLst>
              <a:ext uri="{FF2B5EF4-FFF2-40B4-BE49-F238E27FC236}">
                <a16:creationId xmlns:a16="http://schemas.microsoft.com/office/drawing/2014/main" id="{A922CC7D-9AB0-495B-8AEC-81B7CDEE1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001EF6D3-851E-4B24-A9CD-D38CA18A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66" name="Freeform 11">
              <a:extLst>
                <a:ext uri="{FF2B5EF4-FFF2-40B4-BE49-F238E27FC236}">
                  <a16:creationId xmlns:a16="http://schemas.microsoft.com/office/drawing/2014/main" id="{34C02ECD-F75C-45DF-A249-716AE4455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7" name="Freeform 12">
              <a:extLst>
                <a:ext uri="{FF2B5EF4-FFF2-40B4-BE49-F238E27FC236}">
                  <a16:creationId xmlns:a16="http://schemas.microsoft.com/office/drawing/2014/main" id="{11648B16-4A94-4F3F-B47F-F0C334287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8" name="Freeform 13">
              <a:extLst>
                <a:ext uri="{FF2B5EF4-FFF2-40B4-BE49-F238E27FC236}">
                  <a16:creationId xmlns:a16="http://schemas.microsoft.com/office/drawing/2014/main" id="{37B30A17-8AF2-443F-A549-420892746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9" name="Freeform 14">
              <a:extLst>
                <a:ext uri="{FF2B5EF4-FFF2-40B4-BE49-F238E27FC236}">
                  <a16:creationId xmlns:a16="http://schemas.microsoft.com/office/drawing/2014/main" id="{899AF856-9FE0-41D3-AE38-0028650E5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0" name="Freeform 15">
              <a:extLst>
                <a:ext uri="{FF2B5EF4-FFF2-40B4-BE49-F238E27FC236}">
                  <a16:creationId xmlns:a16="http://schemas.microsoft.com/office/drawing/2014/main" id="{0AA03574-BAE0-48F0-AFFD-7FE53A80A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1" name="Freeform 16">
              <a:extLst>
                <a:ext uri="{FF2B5EF4-FFF2-40B4-BE49-F238E27FC236}">
                  <a16:creationId xmlns:a16="http://schemas.microsoft.com/office/drawing/2014/main" id="{E5C11F0E-3CE3-4AA3-8903-97F7B6E77E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2" name="Freeform 17">
              <a:extLst>
                <a:ext uri="{FF2B5EF4-FFF2-40B4-BE49-F238E27FC236}">
                  <a16:creationId xmlns:a16="http://schemas.microsoft.com/office/drawing/2014/main" id="{0084F2D6-47B1-4245-9971-C28AB2991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3" name="Freeform 18">
              <a:extLst>
                <a:ext uri="{FF2B5EF4-FFF2-40B4-BE49-F238E27FC236}">
                  <a16:creationId xmlns:a16="http://schemas.microsoft.com/office/drawing/2014/main" id="{5ED0731E-418A-460F-A64A-D885C733A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4" name="Freeform 19">
              <a:extLst>
                <a:ext uri="{FF2B5EF4-FFF2-40B4-BE49-F238E27FC236}">
                  <a16:creationId xmlns:a16="http://schemas.microsoft.com/office/drawing/2014/main" id="{CA7B555A-665D-4AF0-BE1D-FD9FD5518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5" name="Freeform 20">
              <a:extLst>
                <a:ext uri="{FF2B5EF4-FFF2-40B4-BE49-F238E27FC236}">
                  <a16:creationId xmlns:a16="http://schemas.microsoft.com/office/drawing/2014/main" id="{76639BB9-DC72-4905-B646-14612CA4C4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6" name="Freeform 21">
              <a:extLst>
                <a:ext uri="{FF2B5EF4-FFF2-40B4-BE49-F238E27FC236}">
                  <a16:creationId xmlns:a16="http://schemas.microsoft.com/office/drawing/2014/main" id="{33F5F41C-CB34-4D75-A726-A6A1468CC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7" name="Freeform 22">
              <a:extLst>
                <a:ext uri="{FF2B5EF4-FFF2-40B4-BE49-F238E27FC236}">
                  <a16:creationId xmlns:a16="http://schemas.microsoft.com/office/drawing/2014/main" id="{4ECB3308-01BD-41F1-96DE-633B57C7E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41B9FA-C490-F4EE-26DA-C9307C480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909" y="4529540"/>
            <a:ext cx="6686550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Introduction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53C4FE-0D5C-ED33-323A-565324DA0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909" y="5696711"/>
            <a:ext cx="6686550" cy="5071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AI-Enabled Emotional &amp; Pregnancy Support Platform</a:t>
            </a:r>
          </a:p>
        </p:txBody>
      </p:sp>
      <p:grpSp>
        <p:nvGrpSpPr>
          <p:cNvPr id="1079" name="Group 1078">
            <a:extLst>
              <a:ext uri="{FF2B5EF4-FFF2-40B4-BE49-F238E27FC236}">
                <a16:creationId xmlns:a16="http://schemas.microsoft.com/office/drawing/2014/main" id="{84A5389E-FAF0-49F8-B7DE-5DB1D39A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1080" name="Freeform 27">
              <a:extLst>
                <a:ext uri="{FF2B5EF4-FFF2-40B4-BE49-F238E27FC236}">
                  <a16:creationId xmlns:a16="http://schemas.microsoft.com/office/drawing/2014/main" id="{38290ECD-2C1E-41E9-B72C-8A74E6A4D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1" name="Freeform 28">
              <a:extLst>
                <a:ext uri="{FF2B5EF4-FFF2-40B4-BE49-F238E27FC236}">
                  <a16:creationId xmlns:a16="http://schemas.microsoft.com/office/drawing/2014/main" id="{D4262E79-CD33-402B-8B11-B973D22F2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2" name="Freeform 29">
              <a:extLst>
                <a:ext uri="{FF2B5EF4-FFF2-40B4-BE49-F238E27FC236}">
                  <a16:creationId xmlns:a16="http://schemas.microsoft.com/office/drawing/2014/main" id="{D4E66077-E4B7-4D37-AAC4-0F2BDF92F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3" name="Freeform 30">
              <a:extLst>
                <a:ext uri="{FF2B5EF4-FFF2-40B4-BE49-F238E27FC236}">
                  <a16:creationId xmlns:a16="http://schemas.microsoft.com/office/drawing/2014/main" id="{C1CA20B0-9D1B-4696-8843-E29F303F5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4" name="Freeform 31">
              <a:extLst>
                <a:ext uri="{FF2B5EF4-FFF2-40B4-BE49-F238E27FC236}">
                  <a16:creationId xmlns:a16="http://schemas.microsoft.com/office/drawing/2014/main" id="{8D6F844C-835B-426A-B64E-08FFD6F25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5" name="Freeform 32">
              <a:extLst>
                <a:ext uri="{FF2B5EF4-FFF2-40B4-BE49-F238E27FC236}">
                  <a16:creationId xmlns:a16="http://schemas.microsoft.com/office/drawing/2014/main" id="{0FA43E74-9BE8-4976-92B5-EAE1CE13D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6" name="Freeform 33">
              <a:extLst>
                <a:ext uri="{FF2B5EF4-FFF2-40B4-BE49-F238E27FC236}">
                  <a16:creationId xmlns:a16="http://schemas.microsoft.com/office/drawing/2014/main" id="{9ACB84C5-04AD-4802-B5BD-57BDC91F7A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7" name="Freeform 34">
              <a:extLst>
                <a:ext uri="{FF2B5EF4-FFF2-40B4-BE49-F238E27FC236}">
                  <a16:creationId xmlns:a16="http://schemas.microsoft.com/office/drawing/2014/main" id="{800BB42D-795C-4D34-B0C0-48C6DCAA5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8" name="Freeform 35">
              <a:extLst>
                <a:ext uri="{FF2B5EF4-FFF2-40B4-BE49-F238E27FC236}">
                  <a16:creationId xmlns:a16="http://schemas.microsoft.com/office/drawing/2014/main" id="{F053FFBE-8DFA-4F0C-8654-84B82FF44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9" name="Freeform 36">
              <a:extLst>
                <a:ext uri="{FF2B5EF4-FFF2-40B4-BE49-F238E27FC236}">
                  <a16:creationId xmlns:a16="http://schemas.microsoft.com/office/drawing/2014/main" id="{CF5AB1EE-3C75-41FC-BAC6-83222999D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0" name="Freeform 37">
              <a:extLst>
                <a:ext uri="{FF2B5EF4-FFF2-40B4-BE49-F238E27FC236}">
                  <a16:creationId xmlns:a16="http://schemas.microsoft.com/office/drawing/2014/main" id="{5EB7AD58-332B-4EA3-9386-08FD955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1" name="Freeform 38">
              <a:extLst>
                <a:ext uri="{FF2B5EF4-FFF2-40B4-BE49-F238E27FC236}">
                  <a16:creationId xmlns:a16="http://schemas.microsoft.com/office/drawing/2014/main" id="{60F8A3C2-0BFB-44EE-9532-B1FE64632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AA4E6AA2-BEA6-4D9C-940A-56C57341D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631B71-4813-36A1-3D2D-3CA557117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9102" y="462958"/>
            <a:ext cx="6777152" cy="420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5" name="Freeform 33">
            <a:extLst>
              <a:ext uri="{FF2B5EF4-FFF2-40B4-BE49-F238E27FC236}">
                <a16:creationId xmlns:a16="http://schemas.microsoft.com/office/drawing/2014/main" id="{ED642ED3-CFED-4142-8502-CCC19944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6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DA55-0721-9651-B7C3-CB6F6586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7C06F4-5378-891E-2748-CAECE4AC4388}"/>
              </a:ext>
            </a:extLst>
          </p:cNvPr>
          <p:cNvSpPr txBox="1">
            <a:spLocks/>
          </p:cNvSpPr>
          <p:nvPr/>
        </p:nvSpPr>
        <p:spPr>
          <a:xfrm>
            <a:off x="2107128" y="1240374"/>
            <a:ext cx="1531423" cy="642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Vision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45176" y="2040250"/>
            <a:ext cx="5836724" cy="147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Every mother receives individualized, knowledgeable, caring support—anytime, anywhere.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3A1C6D5-F496-9C39-B285-537BDE595B10}"/>
              </a:ext>
            </a:extLst>
          </p:cNvPr>
          <p:cNvSpPr txBox="1">
            <a:spLocks/>
          </p:cNvSpPr>
          <p:nvPr/>
        </p:nvSpPr>
        <p:spPr>
          <a:xfrm>
            <a:off x="2202377" y="3787067"/>
            <a:ext cx="1740974" cy="59844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Mission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360C7A-BA3E-3DA9-D8FA-FA475C3215BB}"/>
              </a:ext>
            </a:extLst>
          </p:cNvPr>
          <p:cNvSpPr txBox="1">
            <a:spLocks/>
          </p:cNvSpPr>
          <p:nvPr/>
        </p:nvSpPr>
        <p:spPr>
          <a:xfrm>
            <a:off x="1799540" y="4560047"/>
            <a:ext cx="5515659" cy="147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A safe digital platform using Machine Learning to support expectant mothers and clinicians (non-diagnostic).</a:t>
            </a:r>
          </a:p>
        </p:txBody>
      </p:sp>
    </p:spTree>
    <p:extLst>
      <p:ext uri="{BB962C8B-B14F-4D97-AF65-F5344CB8AC3E}">
        <p14:creationId xmlns:p14="http://schemas.microsoft.com/office/powerpoint/2010/main" val="298929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179DBEAA-367B-4941-8368-15EBD551F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B2A7CB-A2AE-8E97-EABD-05FF32CD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Purpose</a:t>
            </a: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13D68-E0BE-B3C1-F5F2-F57CE537A56A}"/>
              </a:ext>
            </a:extLst>
          </p:cNvPr>
          <p:cNvSpPr txBox="1"/>
          <p:nvPr/>
        </p:nvSpPr>
        <p:spPr>
          <a:xfrm>
            <a:off x="3529933" y="589722"/>
            <a:ext cx="5098525" cy="532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NurtureJoy aims to bridge gaps in emotional support, early risk awareness, and safe community access for expectant mothers using ethical, non-diagnostic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638491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0685DC-0CEE-482C-8A89-7A85EECA3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1645" y="685800"/>
            <a:ext cx="2736814" cy="5225422"/>
          </a:xfrm>
        </p:spPr>
        <p:txBody>
          <a:bodyPr anchor="ctr">
            <a:normAutofit/>
          </a:bodyPr>
          <a:lstStyle/>
          <a:p>
            <a:r>
              <a:rPr lang="en-US"/>
              <a:t>Problem Statement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1628A5-06CF-426B-948A-59ED234C9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165" y="685800"/>
            <a:ext cx="4477622" cy="5225422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Lack of timely emotional support, insights, and safe communities for pregnant women.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902729-F83B-46AA-B572-057BD32A6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2030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7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F2EA518E-6C90-4FB8-9D88-C59B7498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7154" y="782782"/>
            <a:ext cx="6756191" cy="34104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dirty="0"/>
              <a:t>Strategy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1AFC3C9-5F6F-4B0C-B9BC-4538C1E6F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0424"/>
            <a:ext cx="9144000" cy="2307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0678" y="4644223"/>
            <a:ext cx="8306360" cy="18364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Create an emotional well-being chatbot for pregnant users, leveraging NLP to categorize free-text reflections into emotional sentiments and provide supportive, non-clinical feedback.</a:t>
            </a:r>
          </a:p>
        </p:txBody>
      </p:sp>
      <p:sp>
        <p:nvSpPr>
          <p:cNvPr id="83" name="Freeform 11">
            <a:extLst>
              <a:ext uri="{FF2B5EF4-FFF2-40B4-BE49-F238E27FC236}">
                <a16:creationId xmlns:a16="http://schemas.microsoft.com/office/drawing/2014/main" id="{BA844245-4805-4DD5-AF47-842A0B27F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019122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6A127-A330-7DC1-87B9-266ECFAB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B4D06-73B9-58E6-A5DA-9350650A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Tactics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5248D-2590-72B8-781C-33FD60F0A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796" y="657225"/>
            <a:ext cx="4841662" cy="5793906"/>
          </a:xfrm>
        </p:spPr>
        <p:txBody>
          <a:bodyPr anchor="ctr">
            <a:normAutofit fontScale="85000" lnSpcReduction="10000"/>
          </a:bodyPr>
          <a:lstStyle/>
          <a:p>
            <a:pPr fontAlgn="base"/>
            <a:r>
              <a:rPr lang="en-CA" dirty="0"/>
              <a:t>Define emotional sentiment categories relevant to pregnancy (e.g., positive, neutral, stressed, anxious, overwhelmed)</a:t>
            </a:r>
            <a:r>
              <a:rPr lang="en-US" dirty="0"/>
              <a:t> </a:t>
            </a:r>
          </a:p>
          <a:p>
            <a:pPr fontAlgn="base"/>
            <a:r>
              <a:rPr lang="en-CA" dirty="0"/>
              <a:t>Identify and prepare publicly available mental-health or emotion-labeled text datasets</a:t>
            </a:r>
            <a:r>
              <a:rPr lang="en-US" dirty="0"/>
              <a:t> </a:t>
            </a:r>
          </a:p>
          <a:p>
            <a:pPr fontAlgn="base"/>
            <a:r>
              <a:rPr lang="en-CA" dirty="0"/>
              <a:t>Clean and preprocess text data (tokenization, stop-word removal, TF-IDF vectorization)</a:t>
            </a:r>
            <a:r>
              <a:rPr lang="en-US" dirty="0"/>
              <a:t> </a:t>
            </a:r>
          </a:p>
          <a:p>
            <a:pPr fontAlgn="base"/>
            <a:r>
              <a:rPr lang="en-CA" dirty="0"/>
              <a:t>Train supervised NLP models (Naive Bayes, Logistic Regression) for sentiment classification</a:t>
            </a:r>
            <a:r>
              <a:rPr lang="en-US" dirty="0"/>
              <a:t> </a:t>
            </a:r>
          </a:p>
          <a:p>
            <a:pPr fontAlgn="base"/>
            <a:r>
              <a:rPr lang="en-CA" dirty="0"/>
              <a:t>Evaluate model performance using accuracy, precision, recall, and confusion matrices</a:t>
            </a:r>
            <a:r>
              <a:rPr lang="en-US" dirty="0"/>
              <a:t> </a:t>
            </a:r>
          </a:p>
          <a:p>
            <a:pPr fontAlgn="base"/>
            <a:r>
              <a:rPr lang="en-CA" dirty="0"/>
              <a:t>Design non-clinical, supportive chatbot responses mapped to sentiment categories</a:t>
            </a:r>
            <a:r>
              <a:rPr lang="en-US" dirty="0"/>
              <a:t> </a:t>
            </a:r>
          </a:p>
          <a:p>
            <a:pPr fontAlgn="base"/>
            <a:r>
              <a:rPr lang="en-CA" dirty="0"/>
              <a:t>Expose the NLP model via a REST API using Python (Flask or </a:t>
            </a:r>
            <a:r>
              <a:rPr lang="en-CA" dirty="0" err="1"/>
              <a:t>FastAPI</a:t>
            </a:r>
            <a:r>
              <a:rPr lang="en-CA" dirty="0"/>
              <a:t>)</a:t>
            </a:r>
            <a:r>
              <a:rPr lang="en-US" dirty="0"/>
              <a:t> </a:t>
            </a:r>
          </a:p>
          <a:p>
            <a:pPr fontAlgn="base"/>
            <a:r>
              <a:rPr lang="en-CA" dirty="0"/>
              <a:t>Integrate chatbot functionality into the application UI</a:t>
            </a:r>
            <a:r>
              <a:rPr lang="en-US" dirty="0"/>
              <a:t> </a:t>
            </a:r>
          </a:p>
          <a:p>
            <a:pPr fontAlgn="base"/>
            <a:r>
              <a:rPr lang="en-CA" dirty="0"/>
              <a:t>Add safety disclaimers and escalation messaging for high-distress categories</a:t>
            </a:r>
            <a:r>
              <a:rPr lang="en-US" dirty="0"/>
              <a:t> 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149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64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9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3864" y="1597883"/>
            <a:ext cx="6098663" cy="1126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NLP-based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Emotional Well-being Chatbot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with sentiment-aware responses.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796" y="762000"/>
            <a:ext cx="680129" cy="63702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/>
              <a:t>1.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86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100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D1D5AE-8486-2AA2-6CB3-958CC96B06AB}"/>
              </a:ext>
            </a:extLst>
          </p:cNvPr>
          <p:cNvSpPr txBox="1">
            <a:spLocks/>
          </p:cNvSpPr>
          <p:nvPr/>
        </p:nvSpPr>
        <p:spPr>
          <a:xfrm>
            <a:off x="2352398" y="3441271"/>
            <a:ext cx="6098663" cy="9599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3" charset="2"/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Non-diagnostic Machine Learning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Pregnancy Risk Prediction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using user-reported health data.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BE5487-2959-61C2-2A3E-B0D4C356CF43}"/>
              </a:ext>
            </a:extLst>
          </p:cNvPr>
          <p:cNvSpPr txBox="1">
            <a:spLocks/>
          </p:cNvSpPr>
          <p:nvPr/>
        </p:nvSpPr>
        <p:spPr>
          <a:xfrm>
            <a:off x="2567896" y="2608308"/>
            <a:ext cx="1232579" cy="7161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2.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C11D88-3306-81E7-1731-CB71FAAB2DCD}"/>
              </a:ext>
            </a:extLst>
          </p:cNvPr>
          <p:cNvSpPr txBox="1">
            <a:spLocks/>
          </p:cNvSpPr>
          <p:nvPr/>
        </p:nvSpPr>
        <p:spPr>
          <a:xfrm>
            <a:off x="184046" y="1891779"/>
            <a:ext cx="1557145" cy="13735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Use </a:t>
            </a:r>
          </a:p>
          <a:p>
            <a:r>
              <a:rPr lang="en-US" b="1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EEC893-D63A-CB6F-0AC4-20F8F30F218D}"/>
              </a:ext>
            </a:extLst>
          </p:cNvPr>
          <p:cNvSpPr txBox="1">
            <a:spLocks/>
          </p:cNvSpPr>
          <p:nvPr/>
        </p:nvSpPr>
        <p:spPr>
          <a:xfrm>
            <a:off x="2567896" y="4635286"/>
            <a:ext cx="718230" cy="5941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3.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9F94D2A-0FD9-2EA3-859C-5487112B4FDA}"/>
              </a:ext>
            </a:extLst>
          </p:cNvPr>
          <p:cNvSpPr txBox="1">
            <a:spLocks/>
          </p:cNvSpPr>
          <p:nvPr/>
        </p:nvSpPr>
        <p:spPr>
          <a:xfrm>
            <a:off x="2392634" y="5229433"/>
            <a:ext cx="6098663" cy="9360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3" charset="2"/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Moderated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Community forum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with ML-assisted sentiment and safety insights.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612726-6AD2-4BFC-B44A-BA092E156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40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4B9C2C-FD52-48EF-8BDE-720C5030F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84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1DE0485-65C8-4D95-9B34-C55884FC2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A050D4-D2CF-115F-A3C3-479D9473C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12665"/>
              </p:ext>
            </p:extLst>
          </p:nvPr>
        </p:nvGraphicFramePr>
        <p:xfrm>
          <a:off x="1188252" y="582930"/>
          <a:ext cx="7692855" cy="57835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271731">
                  <a:extLst>
                    <a:ext uri="{9D8B030D-6E8A-4147-A177-3AD203B41FA5}">
                      <a16:colId xmlns:a16="http://schemas.microsoft.com/office/drawing/2014/main" val="1216546549"/>
                    </a:ext>
                  </a:extLst>
                </a:gridCol>
                <a:gridCol w="1509663">
                  <a:extLst>
                    <a:ext uri="{9D8B030D-6E8A-4147-A177-3AD203B41FA5}">
                      <a16:colId xmlns:a16="http://schemas.microsoft.com/office/drawing/2014/main" val="2224059721"/>
                    </a:ext>
                  </a:extLst>
                </a:gridCol>
                <a:gridCol w="1509663">
                  <a:extLst>
                    <a:ext uri="{9D8B030D-6E8A-4147-A177-3AD203B41FA5}">
                      <a16:colId xmlns:a16="http://schemas.microsoft.com/office/drawing/2014/main" val="3782112936"/>
                    </a:ext>
                  </a:extLst>
                </a:gridCol>
                <a:gridCol w="1769832">
                  <a:extLst>
                    <a:ext uri="{9D8B030D-6E8A-4147-A177-3AD203B41FA5}">
                      <a16:colId xmlns:a16="http://schemas.microsoft.com/office/drawing/2014/main" val="1431405242"/>
                    </a:ext>
                  </a:extLst>
                </a:gridCol>
                <a:gridCol w="1631966">
                  <a:extLst>
                    <a:ext uri="{9D8B030D-6E8A-4147-A177-3AD203B41FA5}">
                      <a16:colId xmlns:a16="http://schemas.microsoft.com/office/drawing/2014/main" val="2451350796"/>
                    </a:ext>
                  </a:extLst>
                </a:gridCol>
              </a:tblGrid>
              <a:tr h="433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Use Case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People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Industry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Economy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Culture</a:t>
                      </a:r>
                    </a:p>
                  </a:txBody>
                  <a:tcPr marL="58145" marR="58145" marT="29072" marB="29072" anchor="ctr"/>
                </a:tc>
                <a:extLst>
                  <a:ext uri="{0D108BD9-81ED-4DB2-BD59-A6C34878D82A}">
                    <a16:rowId xmlns:a16="http://schemas.microsoft.com/office/drawing/2014/main" val="2777945386"/>
                  </a:ext>
                </a:extLst>
              </a:tr>
              <a:tr h="2168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Emotional Well-Being Chatbot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Improves emotional support and mental well-being for pregnant women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Advances AI-driven digital health solutions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Reduces pressure on healthcare systems through early support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Encourages stigma-free emotional expression</a:t>
                      </a:r>
                    </a:p>
                  </a:txBody>
                  <a:tcPr marL="58145" marR="58145" marT="29072" marB="29072" anchor="ctr"/>
                </a:tc>
                <a:extLst>
                  <a:ext uri="{0D108BD9-81ED-4DB2-BD59-A6C34878D82A}">
                    <a16:rowId xmlns:a16="http://schemas.microsoft.com/office/drawing/2014/main" val="767702731"/>
                  </a:ext>
                </a:extLst>
              </a:tr>
              <a:tr h="1590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Pregnancy Risk Prediction (Non-Diagnostic)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Raises awareness of potential risks and promotes proactive care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Supports data-driven maternal health innovation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Enables early intervention, reducing costly complications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Respects culturally sensitive health decisions</a:t>
                      </a:r>
                    </a:p>
                  </a:txBody>
                  <a:tcPr marL="58145" marR="58145" marT="29072" marB="29072" anchor="ctr"/>
                </a:tc>
                <a:extLst>
                  <a:ext uri="{0D108BD9-81ED-4DB2-BD59-A6C34878D82A}">
                    <a16:rowId xmlns:a16="http://schemas.microsoft.com/office/drawing/2014/main" val="3092675934"/>
                  </a:ext>
                </a:extLst>
              </a:tr>
              <a:tr h="1590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Moderated Community Forum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Provides a safe, supportive peer community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Enhances scalable community moderation using ML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Low-cost support channel for maternal health</a:t>
                      </a:r>
                    </a:p>
                  </a:txBody>
                  <a:tcPr marL="58145" marR="58145" marT="29072" marB="290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Builds inclusive, supportive pregnancy communities</a:t>
                      </a:r>
                    </a:p>
                  </a:txBody>
                  <a:tcPr marL="58145" marR="58145" marT="29072" marB="29072" anchor="ctr"/>
                </a:tc>
                <a:extLst>
                  <a:ext uri="{0D108BD9-81ED-4DB2-BD59-A6C34878D82A}">
                    <a16:rowId xmlns:a16="http://schemas.microsoft.com/office/drawing/2014/main" val="110417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03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C1B5C-6833-0741-8373-0473D352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796" y="624110"/>
            <a:ext cx="6098663" cy="1280890"/>
          </a:xfrm>
        </p:spPr>
        <p:txBody>
          <a:bodyPr>
            <a:normAutofit/>
          </a:bodyPr>
          <a:lstStyle/>
          <a:p>
            <a:r>
              <a:rPr lang="en-US" dirty="0"/>
              <a:t>Justification for Use Cases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989430-8C88-AB57-10C9-85BF0B385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29777" y="1536700"/>
            <a:ext cx="6098663" cy="499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Emotional Well-Being Chatbot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High impact and low risk; technically feasible within a semester using NLP models while delivering immediate emotional support.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Pregnancy Risk Prediction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Ethically constrained as non-diagnostic; feasible using structured health data and supports early clinical engagement.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Community Forum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Scalable and safe; leverages sentiment analysis to improve community trust while minimizing moderation overhead.</a:t>
            </a:r>
          </a:p>
        </p:txBody>
      </p:sp>
    </p:spTree>
    <p:extLst>
      <p:ext uri="{BB962C8B-B14F-4D97-AF65-F5344CB8AC3E}">
        <p14:creationId xmlns:p14="http://schemas.microsoft.com/office/powerpoint/2010/main" val="3474334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5C678-56CE-2BA2-7F6B-D686881A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id="{76CB6AE4-A444-41E5-A744-47F048A1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25F129D9-8F3D-4302-AB5D-DE987A6B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F4A57F6-BEF1-4CA6-A0F1-3A01F6AB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AD298-48D2-4DCB-C31A-8855D37E9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09" y="967417"/>
            <a:ext cx="2834152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EFFFF"/>
                </a:solidFill>
              </a:rPr>
              <a:t>Literature</a:t>
            </a:r>
            <a:r>
              <a:rPr lang="en-US" sz="3500" dirty="0">
                <a:solidFill>
                  <a:srgbClr val="FEFFFF"/>
                </a:solidFill>
              </a:rPr>
              <a:t> </a:t>
            </a:r>
            <a:r>
              <a:rPr lang="en-US" sz="4800" dirty="0">
                <a:solidFill>
                  <a:srgbClr val="FEFFFF"/>
                </a:solidFill>
              </a:rPr>
              <a:t>Review</a:t>
            </a:r>
            <a:endParaRPr lang="en-US" sz="3500" dirty="0">
              <a:solidFill>
                <a:srgbClr val="FEFFFF"/>
              </a:solidFill>
            </a:endParaRPr>
          </a:p>
        </p:txBody>
      </p:sp>
      <p:sp>
        <p:nvSpPr>
          <p:cNvPr id="60" name="Freeform 5">
            <a:extLst>
              <a:ext uri="{FF2B5EF4-FFF2-40B4-BE49-F238E27FC236}">
                <a16:creationId xmlns:a16="http://schemas.microsoft.com/office/drawing/2014/main" id="{E3336A73-1C9B-4BAA-A893-AD3C79E66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Graphic 20" descr="Books">
            <a:extLst>
              <a:ext uri="{FF2B5EF4-FFF2-40B4-BE49-F238E27FC236}">
                <a16:creationId xmlns:a16="http://schemas.microsoft.com/office/drawing/2014/main" id="{35CA8E38-3D7B-FE66-4F7F-9D30757FE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429" y="1437661"/>
            <a:ext cx="1693771" cy="169377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20F5D03-D327-C61A-2FC0-C2C3C712B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437" y="1726815"/>
            <a:ext cx="5320279" cy="17851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r>
              <a:rPr lang="en-CA" b="1" dirty="0"/>
              <a:t>Title: </a:t>
            </a:r>
            <a:r>
              <a:rPr lang="en-CA" dirty="0"/>
              <a:t>AI-Driven Chatbot for Mental Health Support Using Sentiment Analysis</a:t>
            </a: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CA" b="1" dirty="0"/>
              <a:t>PDF Source Link: </a:t>
            </a:r>
            <a:r>
              <a:rPr lang="en-CA" dirty="0"/>
              <a:t> </a:t>
            </a:r>
            <a:r>
              <a:rPr lang="en-CA" u="sng" dirty="0">
                <a:hlinkClick r:id="rId4"/>
              </a:rPr>
              <a:t>https://www.scitepress.org/Papers/2025/138817/138817.pdf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460AEE-FFAC-4CB6-6BC2-E8B1110155AF}"/>
              </a:ext>
            </a:extLst>
          </p:cNvPr>
          <p:cNvSpPr txBox="1">
            <a:spLocks/>
          </p:cNvSpPr>
          <p:nvPr/>
        </p:nvSpPr>
        <p:spPr>
          <a:xfrm>
            <a:off x="3755848" y="920176"/>
            <a:ext cx="4982943" cy="5775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1.</a:t>
            </a:r>
            <a:r>
              <a:rPr lang="en-CA" b="1" dirty="0"/>
              <a:t> Emotional Well-Being Chatbot</a:t>
            </a:r>
            <a:endParaRPr lang="en-US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535569-8E37-A95F-290A-D7AB00F13A23}"/>
              </a:ext>
            </a:extLst>
          </p:cNvPr>
          <p:cNvSpPr txBox="1"/>
          <p:nvPr/>
        </p:nvSpPr>
        <p:spPr>
          <a:xfrm>
            <a:off x="3683728" y="3621038"/>
            <a:ext cx="512246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1200"/>
              </a:spcBef>
              <a:spcAft>
                <a:spcPts val="1200"/>
              </a:spcAft>
            </a:pPr>
            <a:r>
              <a:rPr lang="en-CA" b="1" dirty="0"/>
              <a:t>Relevance to </a:t>
            </a:r>
            <a:r>
              <a:rPr lang="en-CA" sz="1600" b="1" dirty="0"/>
              <a:t>the Project: </a:t>
            </a:r>
            <a:endParaRPr lang="en-CA" b="1" dirty="0"/>
          </a:p>
          <a:p>
            <a:pPr algn="just" fontAlgn="base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The researchers developed a sentiment-aware chatbot capable of real-time emotional classification and response generation, designed to assist users who may not have immediate access to mental health professionals. 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CC5CB-BFDF-BD09-5313-27FE52AFB236}"/>
              </a:ext>
            </a:extLst>
          </p:cNvPr>
          <p:cNvSpPr/>
          <p:nvPr/>
        </p:nvSpPr>
        <p:spPr>
          <a:xfrm>
            <a:off x="9822" y="4910667"/>
            <a:ext cx="3469977" cy="1324845"/>
          </a:xfrm>
          <a:prstGeom prst="rect">
            <a:avLst/>
          </a:prstGeom>
          <a:solidFill>
            <a:srgbClr val="39393D"/>
          </a:solidFill>
          <a:ln>
            <a:solidFill>
              <a:srgbClr val="393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6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4DBB7-FC0B-D1F7-894C-79A3F8BE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A5FFDE4-62AF-F1F4-D8C5-7802FFAA1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A15E1D0-5206-70BF-40C4-0E1EE7A0F6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A133507-08D6-9D86-5096-9AC09B363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0D3F902-803F-A89A-8D91-3867D84A5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77EC8EF-9C84-D12C-304B-47195190CD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25CF1B99-A486-FAD8-6AAD-5693478AC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9F14C6F3-5138-67B9-21EB-CD1DFEBD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4942B68F-ADD2-92F7-312B-5E581D4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B980B5D2-7492-B227-F6FD-69775770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C2AD4167-A193-8745-630F-23FB9919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501C3E74-7AA7-56FF-DBAB-35AAB05D0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D3431DB5-3D4F-E9EC-FCDD-05B038DFA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B9748313-A839-2EFE-19C6-F28FE09C9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1E98C5A-9311-404A-0FAB-317F0886E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58B236E8-4AD9-182B-4661-CD06E5FB1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7B6E7BB5-55BC-D145-DFC3-142DEC483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B16B208E-5828-7059-B858-3F058C7AD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F5D63C78-ED99-DDFA-DC31-94B8A6F8B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7941E8E7-0B26-0F1C-F38C-290AA8DDF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FD326957-DC1E-1E17-30C9-6554C0274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DF325DA-C2E8-0E8B-81B1-3CF672E85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01680AD0-F722-1694-7BB4-C0CA4FCB3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5516884E-C242-A5F2-3335-8084F8B54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A740006E-B2E8-336B-5DFA-3886932B4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FB2804E3-81F1-7781-BFFF-781620BBC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D0386C38-0F05-6515-01EE-617B06FAD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29A71B50-FA03-2748-4DD4-888D9ECED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Freeform 6">
            <a:extLst>
              <a:ext uri="{FF2B5EF4-FFF2-40B4-BE49-F238E27FC236}">
                <a16:creationId xmlns:a16="http://schemas.microsoft.com/office/drawing/2014/main" id="{E0AFBDD4-E396-2131-93D6-ED74187B3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800DB2C-EE0C-1DDE-DD18-089A183D1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D8B37-565C-A36D-AAE5-E2E6AAC7A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896" y="2201149"/>
            <a:ext cx="6098663" cy="145657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CA" b="1" dirty="0"/>
              <a:t>Title: </a:t>
            </a:r>
            <a:r>
              <a:rPr lang="en-CA" dirty="0"/>
              <a:t>Prediction of High-Risk Pregnancy Based on Machine Learning Algorithms</a:t>
            </a: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CA" b="1" dirty="0"/>
              <a:t>PDF / Source </a:t>
            </a:r>
            <a:r>
              <a:rPr lang="en-CA" b="1" dirty="0" err="1"/>
              <a:t>Link:</a:t>
            </a:r>
            <a:r>
              <a:rPr lang="en-CA" u="sng" dirty="0" err="1">
                <a:hlinkClick r:id="rId2"/>
              </a:rPr>
              <a:t>https</a:t>
            </a:r>
            <a:r>
              <a:rPr lang="en-CA" u="sng" dirty="0">
                <a:hlinkClick r:id="rId2"/>
              </a:rPr>
              <a:t>://www.nature.com/articles/s41598-025-00450-3.pdf</a:t>
            </a:r>
            <a:r>
              <a:rPr lang="en-US" dirty="0"/>
              <a:t> 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4E99D0-2211-EA65-23A6-2F32CB9D7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9F07B2D-1231-C7CB-AB9B-5FA33695B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644A50EE-34BA-24E3-3184-C5BA2BF03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EE0974DD-693E-2CD4-CAD0-E6DD3B47A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3">
              <a:extLst>
                <a:ext uri="{FF2B5EF4-FFF2-40B4-BE49-F238E27FC236}">
                  <a16:creationId xmlns:a16="http://schemas.microsoft.com/office/drawing/2014/main" id="{5717AD60-6900-4CF3-F1F3-F8403D07B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4">
              <a:extLst>
                <a:ext uri="{FF2B5EF4-FFF2-40B4-BE49-F238E27FC236}">
                  <a16:creationId xmlns:a16="http://schemas.microsoft.com/office/drawing/2014/main" id="{6F79BE7F-5D9D-5A7A-6D65-B85C7AFE0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B56BB591-BD06-F7B7-2866-80764A8149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5A25B0F9-7100-ED38-4480-07499E8FF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51B1E10F-8FC1-062F-05F8-886F5BA68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7F977F74-10D9-7802-58D7-BB33A4EF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B5EC2DBE-5E28-9113-D895-A1550D21A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55444F0B-9C58-1DDE-1F4B-D3B4DDA5EE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21">
              <a:extLst>
                <a:ext uri="{FF2B5EF4-FFF2-40B4-BE49-F238E27FC236}">
                  <a16:creationId xmlns:a16="http://schemas.microsoft.com/office/drawing/2014/main" id="{AAD9E805-0AED-0D79-DF20-E6ACB2A78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79B2C7B8-7761-932B-F7C4-54D42DBE0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B1CFEDB-929A-4462-ABB8-F227AB171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70" name="Freeform 27">
              <a:extLst>
                <a:ext uri="{FF2B5EF4-FFF2-40B4-BE49-F238E27FC236}">
                  <a16:creationId xmlns:a16="http://schemas.microsoft.com/office/drawing/2014/main" id="{3152A86D-3589-B83F-EDE3-FF40C2177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28">
              <a:extLst>
                <a:ext uri="{FF2B5EF4-FFF2-40B4-BE49-F238E27FC236}">
                  <a16:creationId xmlns:a16="http://schemas.microsoft.com/office/drawing/2014/main" id="{71BCF8A3-60A0-F80F-8186-E1CD19BDD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9">
              <a:extLst>
                <a:ext uri="{FF2B5EF4-FFF2-40B4-BE49-F238E27FC236}">
                  <a16:creationId xmlns:a16="http://schemas.microsoft.com/office/drawing/2014/main" id="{191DFDA3-EC30-CBB5-0667-54CAC31D2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0">
              <a:extLst>
                <a:ext uri="{FF2B5EF4-FFF2-40B4-BE49-F238E27FC236}">
                  <a16:creationId xmlns:a16="http://schemas.microsoft.com/office/drawing/2014/main" id="{F101CC5F-4CBD-87F4-C8E4-9717D5B15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1">
              <a:extLst>
                <a:ext uri="{FF2B5EF4-FFF2-40B4-BE49-F238E27FC236}">
                  <a16:creationId xmlns:a16="http://schemas.microsoft.com/office/drawing/2014/main" id="{5A0AC36C-0E15-F60E-F3E7-62FC37D1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14BEFBF9-6183-3826-008D-685138434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5FF5EC9E-CE5C-00FC-C157-14C6D553CC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4">
              <a:extLst>
                <a:ext uri="{FF2B5EF4-FFF2-40B4-BE49-F238E27FC236}">
                  <a16:creationId xmlns:a16="http://schemas.microsoft.com/office/drawing/2014/main" id="{5D54D276-6B9E-0575-DA14-93D55DDA3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5">
              <a:extLst>
                <a:ext uri="{FF2B5EF4-FFF2-40B4-BE49-F238E27FC236}">
                  <a16:creationId xmlns:a16="http://schemas.microsoft.com/office/drawing/2014/main" id="{B74A8F60-1A62-32ED-7CAF-EEA6057EBC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6">
              <a:extLst>
                <a:ext uri="{FF2B5EF4-FFF2-40B4-BE49-F238E27FC236}">
                  <a16:creationId xmlns:a16="http://schemas.microsoft.com/office/drawing/2014/main" id="{8456673C-2978-AEFD-9032-559AB24BE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7">
              <a:extLst>
                <a:ext uri="{FF2B5EF4-FFF2-40B4-BE49-F238E27FC236}">
                  <a16:creationId xmlns:a16="http://schemas.microsoft.com/office/drawing/2014/main" id="{5E5D1ECE-B1FF-9C7E-C669-32079D741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8">
              <a:extLst>
                <a:ext uri="{FF2B5EF4-FFF2-40B4-BE49-F238E27FC236}">
                  <a16:creationId xmlns:a16="http://schemas.microsoft.com/office/drawing/2014/main" id="{E6DD0785-1E28-7018-8643-D187FDE8C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3" name="Freeform 11">
            <a:extLst>
              <a:ext uri="{FF2B5EF4-FFF2-40B4-BE49-F238E27FC236}">
                <a16:creationId xmlns:a16="http://schemas.microsoft.com/office/drawing/2014/main" id="{1DE70FCE-0490-319C-53A9-926AC996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83EDD1-D298-D4F9-E4A9-1DC9D6EB618D}"/>
              </a:ext>
            </a:extLst>
          </p:cNvPr>
          <p:cNvSpPr txBox="1">
            <a:spLocks/>
          </p:cNvSpPr>
          <p:nvPr/>
        </p:nvSpPr>
        <p:spPr>
          <a:xfrm>
            <a:off x="2567896" y="1254641"/>
            <a:ext cx="5632207" cy="7161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2. </a:t>
            </a:r>
            <a:r>
              <a:rPr lang="en-CA" b="1" dirty="0"/>
              <a:t>Pregnancy Risk Prediction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F51EF-187C-1412-ED77-9058688062D6}"/>
              </a:ext>
            </a:extLst>
          </p:cNvPr>
          <p:cNvSpPr txBox="1"/>
          <p:nvPr/>
        </p:nvSpPr>
        <p:spPr>
          <a:xfrm>
            <a:off x="2567896" y="3818256"/>
            <a:ext cx="597086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1200"/>
              </a:spcBef>
              <a:spcAft>
                <a:spcPts val="1200"/>
              </a:spcAft>
            </a:pPr>
            <a:r>
              <a:rPr lang="en-CA" b="1" dirty="0"/>
              <a:t>Relevance to </a:t>
            </a:r>
            <a:r>
              <a:rPr lang="en-CA" sz="1600" b="1" dirty="0"/>
              <a:t>the Project: </a:t>
            </a:r>
            <a:endParaRPr lang="en-CA" b="1" dirty="0"/>
          </a:p>
          <a:p>
            <a:pPr algn="just" fontAlgn="base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This research by demonstrates the feasibility of using machine learning to predict pregnancy risks using user-reported health data, aligning with Nurture Joy’s personalized risk awareness feature.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897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Freeform 6">
            <a:extLst>
              <a:ext uri="{FF2B5EF4-FFF2-40B4-BE49-F238E27FC236}">
                <a16:creationId xmlns:a16="http://schemas.microsoft.com/office/drawing/2014/main" id="{62163DB6-3EE7-474C-8726-1A05F7DE4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896" y="2496106"/>
            <a:ext cx="6098663" cy="112628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CA" b="1" dirty="0"/>
              <a:t>Title:</a:t>
            </a:r>
            <a:r>
              <a:rPr lang="en-CA" dirty="0"/>
              <a:t> Text Classification for Assisting Moderators in Online Health Communities</a:t>
            </a: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CA" b="1" dirty="0"/>
              <a:t>PDF / Source Link: </a:t>
            </a:r>
            <a:r>
              <a:rPr lang="en-CA" u="sng" dirty="0">
                <a:hlinkClick r:id="rId2"/>
              </a:rPr>
              <a:t>https://pmc.ncbi.nlm.nih.gov/articles/PMC3874858/</a:t>
            </a:r>
            <a:r>
              <a:rPr lang="en-CA" dirty="0"/>
              <a:t>  </a:t>
            </a:r>
            <a:r>
              <a:rPr lang="en-US" dirty="0"/>
              <a:t> 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70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3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8DFE65-97AA-E9D3-597D-FC233A0F2FA8}"/>
              </a:ext>
            </a:extLst>
          </p:cNvPr>
          <p:cNvSpPr txBox="1">
            <a:spLocks/>
          </p:cNvSpPr>
          <p:nvPr/>
        </p:nvSpPr>
        <p:spPr>
          <a:xfrm>
            <a:off x="2567896" y="1505090"/>
            <a:ext cx="5553549" cy="7161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3. </a:t>
            </a:r>
            <a:r>
              <a:rPr lang="en-CA" b="1" dirty="0"/>
              <a:t>Community Forum Support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3DC51-889A-E413-29DF-A66A9781BA5D}"/>
              </a:ext>
            </a:extLst>
          </p:cNvPr>
          <p:cNvSpPr txBox="1"/>
          <p:nvPr/>
        </p:nvSpPr>
        <p:spPr>
          <a:xfrm>
            <a:off x="2588916" y="3828637"/>
            <a:ext cx="5699678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1376"/>
              </a:lnSpc>
              <a:spcBef>
                <a:spcPts val="1200"/>
              </a:spcBef>
              <a:spcAft>
                <a:spcPts val="1200"/>
              </a:spcAft>
            </a:pPr>
            <a:r>
              <a:rPr lang="en-CA" b="1" dirty="0"/>
              <a:t>Relevance to </a:t>
            </a:r>
            <a:r>
              <a:rPr lang="en-CA" sz="1600" b="1" dirty="0"/>
              <a:t>the Project: </a:t>
            </a:r>
            <a:endParaRPr lang="en-CA" b="1" dirty="0"/>
          </a:p>
          <a:p>
            <a:pPr algn="just" fontAlgn="base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This research shows that machine learning and sentiment analysis can help moderate and prioritize posts in online health communities. 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16F0F56-7B4E-43DC-AA4A-7E1896ED1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EAAD1C9-1487-4C1B-8CA2-A565EA7B5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9953" y="986969"/>
            <a:ext cx="6541448" cy="23075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dirty="0"/>
              <a:t>Nurture Joy combines AI, empathy, and safety to enhance maternal well-being.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will focus on implementing </a:t>
            </a:r>
            <a:r>
              <a:rPr lang="en-US" b="1" dirty="0"/>
              <a:t>Use Case 1 </a:t>
            </a:r>
            <a:r>
              <a:rPr lang="en-US" dirty="0"/>
              <a:t>as the main foundation for the project.</a:t>
            </a:r>
            <a:endParaRPr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5F4AA7-D436-4D3E-9311-E3CAACDF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0424"/>
            <a:ext cx="9144000" cy="2307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7153" y="4912467"/>
            <a:ext cx="7323767" cy="110040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5C6FA62F-E948-4EBA-AE1A-47CBEE9FC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019122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91</TotalTime>
  <Words>673</Words>
  <Application>Microsoft Office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Segoe UI</vt:lpstr>
      <vt:lpstr>Wingdings 3</vt:lpstr>
      <vt:lpstr>Wisp</vt:lpstr>
      <vt:lpstr>Nurture Joy</vt:lpstr>
      <vt:lpstr>Introduction</vt:lpstr>
      <vt:lpstr>PowerPoint Presentation</vt:lpstr>
      <vt:lpstr>Purpose</vt:lpstr>
      <vt:lpstr>Problem Statement</vt:lpstr>
      <vt:lpstr>Strategy</vt:lpstr>
      <vt:lpstr>Tactics</vt:lpstr>
      <vt:lpstr>1.</vt:lpstr>
      <vt:lpstr>PowerPoint Presentation</vt:lpstr>
      <vt:lpstr>Justification for Use Cases</vt:lpstr>
      <vt:lpstr>Literature Review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Lesley Wanjiku Kamamo</cp:lastModifiedBy>
  <cp:revision>5</cp:revision>
  <dcterms:created xsi:type="dcterms:W3CDTF">2013-01-27T09:14:16Z</dcterms:created>
  <dcterms:modified xsi:type="dcterms:W3CDTF">2026-02-06T10:40:46Z</dcterms:modified>
  <cp:category/>
</cp:coreProperties>
</file>